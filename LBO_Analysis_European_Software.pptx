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>
        <p:scale>
          <a:sx n="159" d="100"/>
          <a:sy n="159" d="100"/>
        </p:scale>
        <p:origin x="-4480" y="-9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200" b="1" i="0" u="none" strike="noStrike">
                <a:solidFill>
                  <a:srgbClr val="1E2761"/>
                </a:solidFill>
                <a:latin typeface="Calibri"/>
              </a:rPr>
              <a:t>Entry Leverage (Debt / EBITDA)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Leverage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E0-D64B-910E-54CE2C1946E3}"/>
              </c:ext>
            </c:extLst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E0-D64B-910E-54CE2C1946E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0E0-D64B-910E-54CE2C1946E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0E0-D64B-910E-54CE2C1946E3}"/>
              </c:ext>
            </c:extLst>
          </c:dPt>
          <c:dLbls>
            <c:numFmt formatCode="0.0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Calibri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GB Group</c:v>
                </c:pt>
                <c:pt idx="1">
                  <c:v>M&amp;M Software</c:v>
                </c:pt>
                <c:pt idx="2">
                  <c:v>Linedata</c:v>
                </c:pt>
                <c:pt idx="3">
                  <c:v>F-Secure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5.71</c:v>
                </c:pt>
                <c:pt idx="1">
                  <c:v>6.13</c:v>
                </c:pt>
                <c:pt idx="2">
                  <c:v>7.01</c:v>
                </c:pt>
                <c:pt idx="3">
                  <c:v>7.36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E0-D64B-910E-54CE2C1946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9525" cap="flat">
              <a:solidFill>
                <a:srgbClr val="D8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69-AE42-9A0E-87A03EA661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A69-AE42-9A0E-87A03EA661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A69-AE42-9A0E-87A03EA661B3}"/>
              </c:ext>
            </c:extLst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69-AE42-9A0E-87A03EA661B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Calibri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Linedata</c:v>
                </c:pt>
                <c:pt idx="1">
                  <c:v>GB Group</c:v>
                </c:pt>
                <c:pt idx="2">
                  <c:v>F-Secure</c:v>
                </c:pt>
                <c:pt idx="3">
                  <c:v>M&amp;M Software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14.1</c:v>
                </c:pt>
                <c:pt idx="2">
                  <c:v>18.399999999999999</c:v>
                </c:pt>
                <c:pt idx="3">
                  <c:v>22.6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69-AE42-9A0E-87A03EA661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b"/>
        <c:majorGridlines>
          <c:spPr>
            <a:ln w="9525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8"/>
                    </a:solidFill>
                    <a:latin typeface="Arial"/>
                  </a:defRPr>
                </a:pPr>
                <a:r>
                  <a:rPr lang="en-GB" sz="1100" b="0" i="0" u="none" strike="noStrike">
                    <a:solidFill>
                      <a:srgbClr val="5A6478"/>
                    </a:solidFill>
                    <a:latin typeface="Arial"/>
                  </a:rPr>
                  <a:t>5-Year IRR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88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ln w="15875">
            <a:solidFill>
              <a:srgbClr val="141B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ln w="12700">
            <a:solidFill>
              <a:srgbClr val="2A357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EVERGREEN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Leveraged Buyout Analysis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649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Software &amp; Services Sector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4041648"/>
            <a:ext cx="1005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822960" y="4187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Screening  ·  Capital Structure  ·  Returns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internship application portfolio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3794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830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30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we recommend, and why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548640" y="270662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and methodology at a glance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548640" y="3575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0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Screening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25 precedents to 4 shortlisted targets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7939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548640" y="444398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89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Shortlisted Targets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European software companies, side by side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548640" y="531266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2578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Structure Comparison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605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deal size and leverage differ by target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83794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7830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Assumptions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130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applied uniformly across all four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54203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 txBox="1"/>
          <p:nvPr/>
        </p:nvSpPr>
        <p:spPr>
          <a:xfrm>
            <a:off x="6172200" y="270662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2651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5-Year Projection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de-risking over the hold period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41071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 txBox="1"/>
          <p:nvPr/>
        </p:nvSpPr>
        <p:spPr>
          <a:xfrm>
            <a:off x="6172200" y="3575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520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Analysis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and MOIC by target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27939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 txBox="1"/>
          <p:nvPr/>
        </p:nvSpPr>
        <p:spPr>
          <a:xfrm>
            <a:off x="6172200" y="444398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389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Next Steps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watch, and how we'd proceed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5148072"/>
            <a:ext cx="534924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Mensch und Maschine Software 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XTRA:MUM  ·  Germany  ·  Software &amp; Services  ·  Entry Multiple 10.22x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IRR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2.77x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6.13x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LEVERAGE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1737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2.32x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INTEREST COVERAGE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106424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 txBox="1"/>
          <p:nvPr/>
        </p:nvSpPr>
        <p:spPr>
          <a:xfrm>
            <a:off x="548640" y="31089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M&amp;M SOFTWARE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661715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804672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5-year IRR (22.6%) and MOIC (2.77x) of all four screened targets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210355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 txBox="1"/>
          <p:nvPr/>
        </p:nvSpPr>
        <p:spPr>
          <a:xfrm>
            <a:off x="804672" y="39959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entry leverage (6.13x) among the two top-performing candidates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758995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804672" y="4544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margin profile (25.0%) of the shortlist, supporting resilient debt service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307635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804672" y="5093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stays above 2.0x in every projected year of the hold period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704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pages walk through the benchmarking, screening, structuring and returns analysis behind this recommendation — risks are addressed on the closing page.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3108960"/>
            <a:ext cx="44348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 txBox="1"/>
          <p:nvPr/>
        </p:nvSpPr>
        <p:spPr>
          <a:xfrm>
            <a:off x="74523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SNAPSHOT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3749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40919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(LTM)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464040" y="40919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$283.9M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4434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(LTM)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4434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$70.9M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7777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464040" y="47777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5120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Multiple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464040" y="5120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10.22x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54635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464040" y="54635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$725.4M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5806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464040" y="5806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$290.1M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arrived at this recommendation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DEALS BENCHMARKED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COMPANIES SCREENED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FULLY MODELED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HOLD PERIOD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6424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37560"/>
            <a:ext cx="6675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M&amp;A benchmarking across 25 completed Software &amp; Services transactions (2021–2026) established a fair-value entry range. Eight European public software companies were screened against this range, and the four best-fitting names were modeled as standalone LBOs using one consistent capital structure, debt pricing, and 5-year hold — so results are comparable purely on company fundamentals, not modeling choices.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29718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79095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SNAPSHOT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36992" y="3714293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 txBox="1"/>
          <p:nvPr/>
        </p:nvSpPr>
        <p:spPr>
          <a:xfrm>
            <a:off x="8138160" y="3511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Multiple = (Mkt Cap + Debt − Cash) / EBITDA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36992" y="4144061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8138160" y="3941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structure: 40% equity / 60% debt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36992" y="4573829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8138160" y="4370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71% @ 6.30%  ·  Sub 29% @ 8.85%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36992" y="5003597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 txBox="1"/>
          <p:nvPr/>
        </p:nvSpPr>
        <p:spPr>
          <a:xfrm>
            <a:off x="8138160" y="4800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FCF sweep to Senior debt paydown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36992" y="5433365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 txBox="1"/>
          <p:nvPr/>
        </p:nvSpPr>
        <p:spPr>
          <a:xfrm>
            <a:off x="8138160" y="5230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tax rates applied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36992" y="5863133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 txBox="1"/>
          <p:nvPr/>
        </p:nvSpPr>
        <p:spPr>
          <a:xfrm>
            <a:off x="8138160" y="5660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hold, exit at entry multiple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COMPANY SCREENING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25 precedents to 4 shortlisted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4088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Global Software M&amp;A Deals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585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set — established fair-value entry range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63040" y="28803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9FB6E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1737360" y="2971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European Public Software Companies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355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on revenue, EBITDA and margin bands from benchmark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397764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 txBox="1"/>
          <p:nvPr/>
        </p:nvSpPr>
        <p:spPr>
          <a:xfrm>
            <a:off x="2651760" y="4069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Shortlisted Targets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4453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multiple confirmed inside benchmark range (6.76x–13.55x)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5F7FC"/>
          </a:solidFill>
          <a:ln w="12700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 txBox="1"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CRITERIA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30768" y="2524658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8641080" y="2331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Software &amp; 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30768" y="300014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 txBox="1"/>
          <p:nvPr/>
        </p:nvSpPr>
        <p:spPr>
          <a:xfrm>
            <a:off x="8641080" y="28072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Europe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30768" y="3475634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8641080" y="32826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Operating, public company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30768" y="3951122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8641080" y="37581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(LTM): $88–555M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30768" y="4426610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 txBox="1"/>
          <p:nvPr/>
        </p:nvSpPr>
        <p:spPr>
          <a:xfrm>
            <a:off x="8641080" y="42336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(LTM): $29–94M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30768" y="4902098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 txBox="1"/>
          <p:nvPr/>
        </p:nvSpPr>
        <p:spPr>
          <a:xfrm>
            <a:off x="8641080" y="4709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margin: 13–28%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30768" y="537758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 txBox="1"/>
          <p:nvPr/>
        </p:nvSpPr>
        <p:spPr>
          <a:xfrm>
            <a:off x="8641080" y="51846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multiple: within 6.76x–13.55x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SHORTLISTED TARGETS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European software companies, side by side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6517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($M)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($M)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F-Secure Oyj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Group plc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Linedata Services S.A.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Mensch und Maschine Software 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Highest projected IRR / MOIC in this analysis (see Step 6)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Multiple = (Market Capitalization + Total Debt − Cash &amp; Equivalents) / EBITDA (LTM), consistent with the definition used across the 25-deal benchmark set.</a:t>
            </a:r>
            <a:endParaRPr lang="en-US" sz="105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CAPITAL STRUCTURE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deal sizes and leverage differ by target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40880" cy="2331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Interest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F-Secure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7.36x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7.01x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M&amp;M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(40% equity / 60% debt split, Senior/Sub pricing) is held identical across all four — differences below come purely from each company's Entry Multiple and EBITDA.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818120" y="1645920"/>
          <a:ext cx="38404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800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Red-flagged coverage ratios below 2.0x fall under the typical mid-market lender minimum — see F-Secure.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DEAL STRUCTURING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applied uniformly across all four targets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TEMPLATE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94560" cy="685800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2743200" y="2148840"/>
            <a:ext cx="2337206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5080406" y="2148840"/>
            <a:ext cx="954634" cy="68580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48840"/>
            <a:ext cx="23372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Debt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80406" y="2148840"/>
            <a:ext cx="954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201168" cy="201168"/>
          </a:xfrm>
          <a:prstGeom prst="rect">
            <a:avLst/>
          </a:prstGeom>
          <a:solidFill>
            <a:srgbClr val="C9A227"/>
          </a:solidFill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86868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 — 40% of Enterprise Value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solidFill>
            <a:srgbClr val="1E2761"/>
          </a:solidFill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 txBox="1"/>
          <p:nvPr/>
        </p:nvSpPr>
        <p:spPr>
          <a:xfrm>
            <a:off x="868680" y="34198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Debt — 71% of debt, priced at 6.30% (EURIBOR + 300bps)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201168" cy="20116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868680" y="3822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Subordinated Debt — 29% of debt, priced at 8.85% (EURIBOR + 550bps)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Debt amortizes via a 75% Free Cash Flow sweep each year; Sub Debt is bullet (constant to exit).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1645920"/>
            <a:ext cx="5166360" cy="2788920"/>
          </a:xfrm>
          <a:prstGeom prst="roundRect">
            <a:avLst>
              <a:gd name="adj" fmla="val 2623"/>
            </a:avLst>
          </a:prstGeom>
          <a:solidFill>
            <a:srgbClr val="F5F7FC"/>
          </a:solidFill>
          <a:ln w="12700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 txBox="1"/>
          <p:nvPr/>
        </p:nvSpPr>
        <p:spPr>
          <a:xfrm>
            <a:off x="672084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ASSUMPTIONS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212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period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2128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596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multiple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596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entry multiple (no expansion)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980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29809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of revenue p.a.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33649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neutral (0%)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749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% of revenue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133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sweep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1330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to Senior Debt paydown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61772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 txBox="1"/>
          <p:nvPr/>
        </p:nvSpPr>
        <p:spPr>
          <a:xfrm>
            <a:off x="672084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CORPORATE TAX RATES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5102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20.0%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5102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24.5%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189720" y="5102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9189720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5102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29.0%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10424160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RETURNS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5-year IRR by target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7223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 txBox="1"/>
          <p:nvPr/>
        </p:nvSpPr>
        <p:spPr>
          <a:xfrm>
            <a:off x="822960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BY TARGET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Linedata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1.76x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Group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4198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1.93x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059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F-Secure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3525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2.33x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M&amp;M Software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285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2.77x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ln w="15875">
            <a:solidFill>
              <a:srgbClr val="141B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4124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Considerations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489911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896112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targets carry elevated entry leverage (5.7x–7.4x) versus typical mid-market covenant comfort levels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148279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 txBox="1"/>
          <p:nvPr/>
        </p:nvSpPr>
        <p:spPr>
          <a:xfrm>
            <a:off x="896112" y="2944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sensitive to EBITDA margin compression — a 200bps margin decline would meaningfully reduce projected IRR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80664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 txBox="1"/>
          <p:nvPr/>
        </p:nvSpPr>
        <p:spPr>
          <a:xfrm>
            <a:off x="896112" y="36027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F-Secure's interest coverage (1.93x) falls below the typical 2.0x lender minimum at entry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4465015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896112" y="42611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assumes no multiple expansion and flat margins — a conservative but not guaranteed base case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81928" y="2489911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6519672" y="22539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operational due diligence on M&amp;M Software 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1928" y="3148279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 txBox="1"/>
          <p:nvPr/>
        </p:nvSpPr>
        <p:spPr>
          <a:xfrm>
            <a:off x="6519672" y="29169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lenders to confirm senior/sub syndication at modeled pricing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380664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6519672" y="35798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downside sensitivity case (margin compression, exit multiple contraction)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1928" y="4465015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6519672" y="4236719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maintenance covenants around interest coverage, monitored Years 1–2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12700">
            <a:solidFill>
              <a:srgbClr val="2A357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 txBox="1"/>
          <p:nvPr/>
        </p:nvSpPr>
        <p:spPr>
          <a:xfrm>
            <a:off x="640080" y="5349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52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Evergreen — Leveraged Buyout Analysis, European Software &amp; Services Sector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ANALYSIS  ·  EUROPEAN SOFTWARE &amp; SERVICES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1151</Words>
  <Application>Microsoft Macintosh PowerPoint</Application>
  <PresentationFormat>Widescreen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Hlib Papanov</cp:lastModifiedBy>
  <cp:revision>2</cp:revision>
  <dcterms:created xsi:type="dcterms:W3CDTF">2026-09-18T13:43:58Z</dcterms:created>
  <dcterms:modified xsi:type="dcterms:W3CDTF">2026-09-18T13:48:49Z</dcterms:modified>
</cp:coreProperties>
</file>